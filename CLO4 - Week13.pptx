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5"/>
  </p:notesMasterIdLst>
  <p:sldIdLst>
    <p:sldId id="256" r:id="rId5"/>
    <p:sldId id="266" r:id="rId6"/>
    <p:sldId id="348" r:id="rId7"/>
    <p:sldId id="349" r:id="rId8"/>
    <p:sldId id="355" r:id="rId9"/>
    <p:sldId id="351" r:id="rId10"/>
    <p:sldId id="353" r:id="rId11"/>
    <p:sldId id="352" r:id="rId12"/>
    <p:sldId id="354" r:id="rId13"/>
    <p:sldId id="34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38EB2"/>
    <a:srgbClr val="565655"/>
    <a:srgbClr val="FEFEFE"/>
    <a:srgbClr val="0DB0AD"/>
    <a:srgbClr val="FCC50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692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49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3CCDDA-FB3A-294D-8AFA-1450FF27667F}" type="datetimeFigureOut">
              <a:rPr lang="en-US" smtClean="0"/>
              <a:t>11/9/21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5E365F-A8C6-974B-BA61-42C0BD09EF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1494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or Section 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ctrTitle"/>
          </p:nvPr>
        </p:nvSpPr>
        <p:spPr>
          <a:xfrm>
            <a:off x="855150" y="5061317"/>
            <a:ext cx="8721167" cy="753329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3200">
                <a:solidFill>
                  <a:srgbClr val="565655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855150" y="5884984"/>
            <a:ext cx="9144000" cy="44547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rgbClr val="565655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585213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763044" y="728380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1177446" y="2188879"/>
            <a:ext cx="10101197" cy="371087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6588219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1158837" y="1383346"/>
            <a:ext cx="10270212" cy="519896"/>
          </a:xfrm>
          <a:noFill/>
        </p:spPr>
        <p:txBody>
          <a:bodyPr anchor="b">
            <a:normAutofit/>
          </a:bodyPr>
          <a:lstStyle>
            <a:lvl1pPr>
              <a:defRPr sz="2800">
                <a:solidFill>
                  <a:srgbClr val="565655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1158837" y="2133646"/>
            <a:ext cx="10270212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Slide Number Placeholder 5"/>
          <p:cNvSpPr txBox="1">
            <a:spLocks/>
          </p:cNvSpPr>
          <p:nvPr userDrawn="1"/>
        </p:nvSpPr>
        <p:spPr>
          <a:xfrm>
            <a:off x="245641" y="6368389"/>
            <a:ext cx="361100" cy="2912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378AA7AE-02B8-4D66-BDAC-9D9A7D37BB9A}" type="slidenum">
              <a:rPr lang="en-US" sz="1100" smtClean="0">
                <a:solidFill>
                  <a:srgbClr val="565655"/>
                </a:solidFill>
              </a:rPr>
              <a:pPr algn="ctr"/>
              <a:t>‹#›</a:t>
            </a:fld>
            <a:endParaRPr lang="en-US" sz="1100" dirty="0">
              <a:solidFill>
                <a:srgbClr val="5656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441653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P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665075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 txBox="1">
            <a:spLocks noGrp="1"/>
          </p:cNvSpPr>
          <p:nvPr>
            <p:ph type="title"/>
          </p:nvPr>
        </p:nvSpPr>
        <p:spPr>
          <a:xfrm>
            <a:off x="838214" y="36512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/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ts val="3300"/>
              <a:buFont typeface="Calibri"/>
              <a:buNone/>
              <a:defRPr sz="228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SzPts val="1400"/>
              <a:buNone/>
              <a:defRPr sz="1247"/>
            </a:lvl2pPr>
            <a:lvl3pPr lvl="2" indent="0">
              <a:spcBef>
                <a:spcPts val="0"/>
              </a:spcBef>
              <a:buSzPts val="1400"/>
              <a:buNone/>
              <a:defRPr sz="1247"/>
            </a:lvl3pPr>
            <a:lvl4pPr lvl="3" indent="0">
              <a:spcBef>
                <a:spcPts val="0"/>
              </a:spcBef>
              <a:buSzPts val="1400"/>
              <a:buNone/>
              <a:defRPr sz="1247"/>
            </a:lvl4pPr>
            <a:lvl5pPr lvl="4" indent="0">
              <a:spcBef>
                <a:spcPts val="0"/>
              </a:spcBef>
              <a:buSzPts val="1400"/>
              <a:buNone/>
              <a:defRPr sz="1247"/>
            </a:lvl5pPr>
            <a:lvl6pPr lvl="5" indent="0">
              <a:spcBef>
                <a:spcPts val="0"/>
              </a:spcBef>
              <a:buSzPts val="1400"/>
              <a:buNone/>
              <a:defRPr sz="1247"/>
            </a:lvl6pPr>
            <a:lvl7pPr lvl="6" indent="0">
              <a:spcBef>
                <a:spcPts val="0"/>
              </a:spcBef>
              <a:buSzPts val="1400"/>
              <a:buNone/>
              <a:defRPr sz="1247"/>
            </a:lvl7pPr>
            <a:lvl8pPr lvl="7" indent="0">
              <a:spcBef>
                <a:spcPts val="0"/>
              </a:spcBef>
              <a:buSzPts val="1400"/>
              <a:buNone/>
              <a:defRPr sz="1247"/>
            </a:lvl8pPr>
            <a:lvl9pPr lvl="8" indent="0">
              <a:spcBef>
                <a:spcPts val="0"/>
              </a:spcBef>
              <a:buSzPts val="1400"/>
              <a:buNone/>
              <a:defRPr sz="1247"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body" idx="1"/>
          </p:nvPr>
        </p:nvSpPr>
        <p:spPr>
          <a:xfrm>
            <a:off x="838214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118665" marR="0" lvl="0" indent="-26370" algn="l" rtl="0">
              <a:lnSpc>
                <a:spcPct val="90000"/>
              </a:lnSpc>
              <a:spcBef>
                <a:spcPts val="519"/>
              </a:spcBef>
              <a:buClr>
                <a:schemeClr val="dk1"/>
              </a:buClr>
              <a:buSzPts val="2100"/>
              <a:buFont typeface="Arial"/>
              <a:buChar char="•"/>
              <a:defRPr sz="145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55995" marR="0" lvl="1" indent="-39555" algn="l" rtl="0">
              <a:lnSpc>
                <a:spcPct val="90000"/>
              </a:lnSpc>
              <a:spcBef>
                <a:spcPts val="260"/>
              </a:spcBef>
              <a:buClr>
                <a:schemeClr val="dk1"/>
              </a:buClr>
              <a:buSzPts val="1800"/>
              <a:buFont typeface="Arial"/>
              <a:buChar char="•"/>
              <a:defRPr sz="124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593325" marR="0" lvl="2" indent="-52739" algn="l" rtl="0">
              <a:lnSpc>
                <a:spcPct val="90000"/>
              </a:lnSpc>
              <a:spcBef>
                <a:spcPts val="260"/>
              </a:spcBef>
              <a:buClr>
                <a:schemeClr val="dk1"/>
              </a:buClr>
              <a:buSzPts val="1500"/>
              <a:buFont typeface="Arial"/>
              <a:buChar char="•"/>
              <a:defRPr sz="103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830654" marR="0" lvl="3" indent="-59333" algn="l" rtl="0">
              <a:lnSpc>
                <a:spcPct val="90000"/>
              </a:lnSpc>
              <a:spcBef>
                <a:spcPts val="260"/>
              </a:spcBef>
              <a:buClr>
                <a:schemeClr val="dk1"/>
              </a:buClr>
              <a:buSzPts val="1350"/>
              <a:buFont typeface="Arial"/>
              <a:buChar char="•"/>
              <a:defRPr sz="93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067984" marR="0" lvl="4" indent="-59333" algn="l" rtl="0">
              <a:lnSpc>
                <a:spcPct val="90000"/>
              </a:lnSpc>
              <a:spcBef>
                <a:spcPts val="260"/>
              </a:spcBef>
              <a:buClr>
                <a:schemeClr val="dk1"/>
              </a:buClr>
              <a:buSzPts val="1350"/>
              <a:buFont typeface="Arial"/>
              <a:buChar char="•"/>
              <a:defRPr sz="93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305316" marR="0" lvl="5" indent="-59333" algn="l" rtl="0">
              <a:lnSpc>
                <a:spcPct val="90000"/>
              </a:lnSpc>
              <a:spcBef>
                <a:spcPts val="260"/>
              </a:spcBef>
              <a:buClr>
                <a:schemeClr val="dk1"/>
              </a:buClr>
              <a:buSzPts val="1350"/>
              <a:buFont typeface="Arial"/>
              <a:buChar char="•"/>
              <a:defRPr sz="93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542647" marR="0" lvl="6" indent="-59333" algn="l" rtl="0">
              <a:lnSpc>
                <a:spcPct val="90000"/>
              </a:lnSpc>
              <a:spcBef>
                <a:spcPts val="260"/>
              </a:spcBef>
              <a:buClr>
                <a:schemeClr val="dk1"/>
              </a:buClr>
              <a:buSzPts val="1350"/>
              <a:buFont typeface="Arial"/>
              <a:buChar char="•"/>
              <a:defRPr sz="93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779976" marR="0" lvl="7" indent="-59333" algn="l" rtl="0">
              <a:lnSpc>
                <a:spcPct val="90000"/>
              </a:lnSpc>
              <a:spcBef>
                <a:spcPts val="260"/>
              </a:spcBef>
              <a:buClr>
                <a:schemeClr val="dk1"/>
              </a:buClr>
              <a:buSzPts val="1350"/>
              <a:buFont typeface="Arial"/>
              <a:buChar char="•"/>
              <a:defRPr sz="93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017305" marR="0" lvl="8" indent="-59333" algn="l" rtl="0">
              <a:lnSpc>
                <a:spcPct val="90000"/>
              </a:lnSpc>
              <a:spcBef>
                <a:spcPts val="260"/>
              </a:spcBef>
              <a:buClr>
                <a:schemeClr val="dk1"/>
              </a:buClr>
              <a:buSzPts val="1350"/>
              <a:buFont typeface="Arial"/>
              <a:buChar char="•"/>
              <a:defRPr sz="93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8" name="Shape 28"/>
          <p:cNvSpPr txBox="1">
            <a:spLocks noGrp="1"/>
          </p:cNvSpPr>
          <p:nvPr>
            <p:ph type="dt" idx="10"/>
          </p:nvPr>
        </p:nvSpPr>
        <p:spPr>
          <a:xfrm>
            <a:off x="838201" y="635635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SzPts val="1400"/>
              <a:buNone/>
              <a:defRPr sz="6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16432" marR="0" lvl="1" indent="0" algn="l" rtl="0">
              <a:spcBef>
                <a:spcPts val="0"/>
              </a:spcBef>
              <a:buSzPts val="1400"/>
              <a:buNone/>
              <a:defRPr sz="124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632864" marR="0" lvl="2" indent="0" algn="l" rtl="0">
              <a:spcBef>
                <a:spcPts val="0"/>
              </a:spcBef>
              <a:buSzPts val="1400"/>
              <a:buNone/>
              <a:defRPr sz="124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949296" marR="0" lvl="3" indent="0" algn="l" rtl="0">
              <a:spcBef>
                <a:spcPts val="0"/>
              </a:spcBef>
              <a:buSzPts val="1400"/>
              <a:buNone/>
              <a:defRPr sz="124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265728" marR="0" lvl="4" indent="0" algn="l" rtl="0">
              <a:spcBef>
                <a:spcPts val="0"/>
              </a:spcBef>
              <a:buSzPts val="1400"/>
              <a:buNone/>
              <a:defRPr sz="124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582160" marR="0" lvl="5" indent="0" algn="l" rtl="0">
              <a:spcBef>
                <a:spcPts val="0"/>
              </a:spcBef>
              <a:buSzPts val="1400"/>
              <a:buNone/>
              <a:defRPr sz="124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898593" marR="0" lvl="6" indent="0" algn="l" rtl="0">
              <a:spcBef>
                <a:spcPts val="0"/>
              </a:spcBef>
              <a:buSzPts val="1400"/>
              <a:buNone/>
              <a:defRPr sz="124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215025" marR="0" lvl="7" indent="0" algn="l" rtl="0">
              <a:spcBef>
                <a:spcPts val="0"/>
              </a:spcBef>
              <a:buSzPts val="1400"/>
              <a:buNone/>
              <a:defRPr sz="124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531457" marR="0" lvl="8" indent="0" algn="l" rtl="0">
              <a:spcBef>
                <a:spcPts val="0"/>
              </a:spcBef>
              <a:buSzPts val="1400"/>
              <a:buNone/>
              <a:defRPr sz="124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9" name="Shape 29"/>
          <p:cNvSpPr txBox="1">
            <a:spLocks noGrp="1"/>
          </p:cNvSpPr>
          <p:nvPr>
            <p:ph type="ftr" idx="11"/>
          </p:nvPr>
        </p:nvSpPr>
        <p:spPr>
          <a:xfrm>
            <a:off x="4038614" y="6356359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buSzPts val="1400"/>
              <a:buNone/>
              <a:defRPr sz="6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16432" marR="0" lvl="1" indent="0" algn="l" rtl="0">
              <a:spcBef>
                <a:spcPts val="0"/>
              </a:spcBef>
              <a:buSzPts val="1400"/>
              <a:buNone/>
              <a:defRPr sz="124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632864" marR="0" lvl="2" indent="0" algn="l" rtl="0">
              <a:spcBef>
                <a:spcPts val="0"/>
              </a:spcBef>
              <a:buSzPts val="1400"/>
              <a:buNone/>
              <a:defRPr sz="124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949296" marR="0" lvl="3" indent="0" algn="l" rtl="0">
              <a:spcBef>
                <a:spcPts val="0"/>
              </a:spcBef>
              <a:buSzPts val="1400"/>
              <a:buNone/>
              <a:defRPr sz="124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265728" marR="0" lvl="4" indent="0" algn="l" rtl="0">
              <a:spcBef>
                <a:spcPts val="0"/>
              </a:spcBef>
              <a:buSzPts val="1400"/>
              <a:buNone/>
              <a:defRPr sz="124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582160" marR="0" lvl="5" indent="0" algn="l" rtl="0">
              <a:spcBef>
                <a:spcPts val="0"/>
              </a:spcBef>
              <a:buSzPts val="1400"/>
              <a:buNone/>
              <a:defRPr sz="124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898593" marR="0" lvl="6" indent="0" algn="l" rtl="0">
              <a:spcBef>
                <a:spcPts val="0"/>
              </a:spcBef>
              <a:buSzPts val="1400"/>
              <a:buNone/>
              <a:defRPr sz="124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215025" marR="0" lvl="7" indent="0" algn="l" rtl="0">
              <a:spcBef>
                <a:spcPts val="0"/>
              </a:spcBef>
              <a:buSzPts val="1400"/>
              <a:buNone/>
              <a:defRPr sz="124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531457" marR="0" lvl="8" indent="0" algn="l" rtl="0">
              <a:spcBef>
                <a:spcPts val="0"/>
              </a:spcBef>
              <a:buSzPts val="1400"/>
              <a:buNone/>
              <a:defRPr sz="124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0" name="Shape 30"/>
          <p:cNvSpPr txBox="1">
            <a:spLocks noGrp="1"/>
          </p:cNvSpPr>
          <p:nvPr>
            <p:ph type="sldNum" idx="12"/>
          </p:nvPr>
        </p:nvSpPr>
        <p:spPr>
          <a:xfrm>
            <a:off x="8610601" y="635635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algn="r"/>
            <a:fld id="{00000000-1234-1234-1234-123412341234}" type="slidenum">
              <a:rPr lang="en-US" sz="623" smtClean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pPr algn="r"/>
              <a:t>‹#›</a:t>
            </a:fld>
            <a:endParaRPr lang="en-US" sz="623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431543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5"/>
          <p:cNvSpPr txBox="1">
            <a:spLocks/>
          </p:cNvSpPr>
          <p:nvPr userDrawn="1"/>
        </p:nvSpPr>
        <p:spPr>
          <a:xfrm>
            <a:off x="237175" y="6385322"/>
            <a:ext cx="361100" cy="2912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378AA7AE-02B8-4D66-BDAC-9D9A7D37BB9A}" type="slidenum">
              <a:rPr lang="en-US" sz="1100" smtClean="0">
                <a:solidFill>
                  <a:srgbClr val="565655"/>
                </a:solidFill>
              </a:rPr>
              <a:pPr algn="ctr"/>
              <a:t>‹#›</a:t>
            </a:fld>
            <a:endParaRPr lang="en-US" sz="1100" dirty="0">
              <a:solidFill>
                <a:srgbClr val="565655"/>
              </a:solidFill>
            </a:endParaRPr>
          </a:p>
        </p:txBody>
      </p:sp>
      <p:sp>
        <p:nvSpPr>
          <p:cNvPr id="20" name="Title Placeholder 1"/>
          <p:cNvSpPr>
            <a:spLocks noGrp="1"/>
          </p:cNvSpPr>
          <p:nvPr>
            <p:ph type="title"/>
          </p:nvPr>
        </p:nvSpPr>
        <p:spPr>
          <a:xfrm>
            <a:off x="775569" y="1027135"/>
            <a:ext cx="10515600" cy="601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2"/>
          <p:cNvSpPr>
            <a:spLocks noGrp="1"/>
          </p:cNvSpPr>
          <p:nvPr>
            <p:ph type="body" idx="1"/>
          </p:nvPr>
        </p:nvSpPr>
        <p:spPr>
          <a:xfrm>
            <a:off x="1189973" y="2113528"/>
            <a:ext cx="10101196" cy="38112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89970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  <p:sldLayoutId id="2147483656" r:id="rId3"/>
    <p:sldLayoutId id="2147483652" r:id="rId4"/>
    <p:sldLayoutId id="2147483660" r:id="rId5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rgbClr val="FEFEFE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haqualitycenter.org/Portals/0/Tools%20to%20Use/Making%20Sense%20of%20Data/Using%20Graphs%20to%20Display%20Data%20R%202-12.pdf" TargetMode="Externa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B5243-1CBE-8748-8D03-4554DF5743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5150" y="4747847"/>
            <a:ext cx="11114112" cy="1066800"/>
          </a:xfrm>
        </p:spPr>
        <p:txBody>
          <a:bodyPr>
            <a:normAutofit/>
          </a:bodyPr>
          <a:lstStyle/>
          <a:p>
            <a:r>
              <a:rPr lang="en-US" dirty="0"/>
              <a:t>Week 13 – Introduction to Data Analytics in Python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36C997-C8EC-5043-AE13-CF93012716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(CLO4)</a:t>
            </a:r>
          </a:p>
        </p:txBody>
      </p:sp>
    </p:spTree>
    <p:extLst>
      <p:ext uri="{BB962C8B-B14F-4D97-AF65-F5344CB8AC3E}">
        <p14:creationId xmlns:p14="http://schemas.microsoft.com/office/powerpoint/2010/main" val="63056008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2060"/>
                </a:solidFill>
                <a:sym typeface="Calibri"/>
              </a:rPr>
              <a:t>Learning Outcomes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8389E9-103E-8648-9E3B-D5FA3366BA36}"/>
              </a:ext>
            </a:extLst>
          </p:cNvPr>
          <p:cNvSpPr txBox="1"/>
          <p:nvPr/>
        </p:nvSpPr>
        <p:spPr>
          <a:xfrm>
            <a:off x="1128513" y="2566855"/>
            <a:ext cx="9685261" cy="52322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800" dirty="0"/>
              <a:t>Understand the different types of charts.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12D648-661C-CF4A-AC4F-741DB8B884EC}"/>
              </a:ext>
            </a:extLst>
          </p:cNvPr>
          <p:cNvSpPr txBox="1"/>
          <p:nvPr/>
        </p:nvSpPr>
        <p:spPr>
          <a:xfrm>
            <a:off x="1128507" y="3372309"/>
            <a:ext cx="9685261" cy="52322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800" dirty="0"/>
              <a:t>Plotting 3 different types of charts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02F0F5-F145-ED47-8500-823A32D3F187}"/>
              </a:ext>
            </a:extLst>
          </p:cNvPr>
          <p:cNvSpPr txBox="1"/>
          <p:nvPr/>
        </p:nvSpPr>
        <p:spPr>
          <a:xfrm>
            <a:off x="1128505" y="4125112"/>
            <a:ext cx="9685261" cy="52322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800" dirty="0"/>
              <a:t>Enhancing the chart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0D6663-0C5D-B441-9AC2-DDDC2EA6BBC9}"/>
              </a:ext>
            </a:extLst>
          </p:cNvPr>
          <p:cNvSpPr txBox="1"/>
          <p:nvPr/>
        </p:nvSpPr>
        <p:spPr>
          <a:xfrm>
            <a:off x="1128504" y="1761401"/>
            <a:ext cx="9685261" cy="52322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800" dirty="0"/>
              <a:t>Data Visualization.</a:t>
            </a:r>
          </a:p>
        </p:txBody>
      </p:sp>
    </p:spTree>
    <p:extLst>
      <p:ext uri="{BB962C8B-B14F-4D97-AF65-F5344CB8AC3E}">
        <p14:creationId xmlns:p14="http://schemas.microsoft.com/office/powerpoint/2010/main" val="156075764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115">
            <a:extLst>
              <a:ext uri="{FF2B5EF4-FFF2-40B4-BE49-F238E27FC236}">
                <a16:creationId xmlns:a16="http://schemas.microsoft.com/office/drawing/2014/main" id="{BD0139C6-603B-9345-A30F-8EBD7C86936C}"/>
              </a:ext>
            </a:extLst>
          </p:cNvPr>
          <p:cNvSpPr txBox="1"/>
          <p:nvPr/>
        </p:nvSpPr>
        <p:spPr>
          <a:xfrm>
            <a:off x="0" y="112541"/>
            <a:ext cx="9906000" cy="47610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wrap="square" lIns="63294" tIns="31638" rIns="63294" bIns="31638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1800" b="1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</a:lstStyle>
          <a:p>
            <a:r>
              <a:rPr lang="en-US" sz="2800" dirty="0">
                <a:sym typeface="Calibri"/>
              </a:rPr>
              <a:t>Data Visualization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BFE763-224B-B840-9B4B-ED1EDE340A16}"/>
              </a:ext>
            </a:extLst>
          </p:cNvPr>
          <p:cNvSpPr txBox="1"/>
          <p:nvPr/>
        </p:nvSpPr>
        <p:spPr>
          <a:xfrm>
            <a:off x="214214" y="792535"/>
            <a:ext cx="10843591" cy="830789"/>
          </a:xfrm>
          <a:prstGeom prst="rect">
            <a:avLst/>
          </a:prstGeom>
          <a:solidFill>
            <a:srgbClr val="D8E2F3"/>
          </a:solidFill>
          <a:ln>
            <a:noFill/>
          </a:ln>
          <a:effectLst>
            <a:outerShdw blurRad="444500" dist="50800" dir="5400000" algn="ctr" rotWithShape="0">
              <a:srgbClr val="000000">
                <a:alpha val="43137"/>
              </a:srgbClr>
            </a:outerShdw>
          </a:effectLst>
        </p:spPr>
        <p:txBody>
          <a:bodyPr wrap="square" lIns="63294" tIns="31638" rIns="63294" bIns="31638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just">
              <a:defRPr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</a:lstStyle>
          <a:p>
            <a:r>
              <a:rPr lang="en-US" sz="2400" dirty="0"/>
              <a:t>Using charts to visualize data helps with improving understanding of a data set,</a:t>
            </a:r>
          </a:p>
          <a:p>
            <a:r>
              <a:rPr lang="en-US" sz="2400" dirty="0"/>
              <a:t>interpretation of the data and communications among people who work with it.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A6403CC-137E-494A-861F-29A80E965A07}"/>
              </a:ext>
            </a:extLst>
          </p:cNvPr>
          <p:cNvSpPr txBox="1"/>
          <p:nvPr/>
        </p:nvSpPr>
        <p:spPr>
          <a:xfrm>
            <a:off x="214214" y="1998483"/>
            <a:ext cx="10843591" cy="267765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71500" dist="50800" dir="5400000" algn="ctr" rotWithShape="0">
              <a:srgbClr val="000000">
                <a:alpha val="43137"/>
              </a:srgbClr>
            </a:outerShdw>
          </a:effectLst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22"/>
            </a:lvl1pPr>
          </a:lstStyle>
          <a:p>
            <a:r>
              <a:rPr lang="en-US" sz="2800" dirty="0"/>
              <a:t>Pandas offers many chart that are suitable for use within management or corporate presentations. </a:t>
            </a:r>
          </a:p>
          <a:p>
            <a:endParaRPr lang="en-US" sz="2800" dirty="0"/>
          </a:p>
          <a:p>
            <a:r>
              <a:rPr lang="en-US" sz="2800" dirty="0"/>
              <a:t>A chart can create a clearer picture of a set of data values than a </a:t>
            </a:r>
            <a:r>
              <a:rPr lang="en-US" sz="2800" dirty="0" err="1"/>
              <a:t>DataFrame</a:t>
            </a:r>
            <a:r>
              <a:rPr lang="en-US" sz="2800" dirty="0"/>
              <a:t> with rows and columns, allowing managers to incorporate this understanding into analysis and future planning.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8A4E4A7-0CB0-FF44-B1AE-5BE7EB022430}"/>
              </a:ext>
            </a:extLst>
          </p:cNvPr>
          <p:cNvSpPr/>
          <p:nvPr/>
        </p:nvSpPr>
        <p:spPr>
          <a:xfrm>
            <a:off x="371021" y="5153034"/>
            <a:ext cx="10607271" cy="64633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>
                <a:latin typeface="Helvetica" pitchFamily="2" charset="0"/>
              </a:rPr>
              <a:t>It is important that x-axis will be the index of your </a:t>
            </a:r>
            <a:r>
              <a:rPr lang="en-US" dirty="0" err="1">
                <a:latin typeface="Helvetica" pitchFamily="2" charset="0"/>
              </a:rPr>
              <a:t>DataFrame</a:t>
            </a:r>
            <a:r>
              <a:rPr lang="en-US" dirty="0">
                <a:latin typeface="Helvetica" pitchFamily="2" charset="0"/>
              </a:rPr>
              <a:t>. If you want to have a</a:t>
            </a:r>
          </a:p>
          <a:p>
            <a:r>
              <a:rPr lang="en-US" dirty="0">
                <a:latin typeface="Helvetica" pitchFamily="2" charset="0"/>
              </a:rPr>
              <a:t>specific column to be your x-axis, then you need to set the index to that column.</a:t>
            </a:r>
            <a:endParaRPr lang="en-US" dirty="0">
              <a:effectLst/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038998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115">
            <a:extLst>
              <a:ext uri="{FF2B5EF4-FFF2-40B4-BE49-F238E27FC236}">
                <a16:creationId xmlns:a16="http://schemas.microsoft.com/office/drawing/2014/main" id="{BD0139C6-603B-9345-A30F-8EBD7C86936C}"/>
              </a:ext>
            </a:extLst>
          </p:cNvPr>
          <p:cNvSpPr txBox="1"/>
          <p:nvPr/>
        </p:nvSpPr>
        <p:spPr>
          <a:xfrm>
            <a:off x="0" y="72785"/>
            <a:ext cx="9906000" cy="47610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wrap="square" lIns="63294" tIns="31638" rIns="63294" bIns="31638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1800" b="1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</a:lstStyle>
          <a:p>
            <a:r>
              <a:rPr lang="en-US" sz="2800" dirty="0">
                <a:sym typeface="Calibri"/>
              </a:rPr>
              <a:t>Comparison of different charts. 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C754540-1F60-C34B-B402-7241CCC8BB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8794886"/>
              </p:ext>
            </p:extLst>
          </p:nvPr>
        </p:nvGraphicFramePr>
        <p:xfrm>
          <a:off x="1520689" y="789346"/>
          <a:ext cx="8845826" cy="582388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031435">
                  <a:extLst>
                    <a:ext uri="{9D8B030D-6E8A-4147-A177-3AD203B41FA5}">
                      <a16:colId xmlns:a16="http://schemas.microsoft.com/office/drawing/2014/main" val="3250479435"/>
                    </a:ext>
                  </a:extLst>
                </a:gridCol>
                <a:gridCol w="2703443">
                  <a:extLst>
                    <a:ext uri="{9D8B030D-6E8A-4147-A177-3AD203B41FA5}">
                      <a16:colId xmlns:a16="http://schemas.microsoft.com/office/drawing/2014/main" val="3123772079"/>
                    </a:ext>
                  </a:extLst>
                </a:gridCol>
                <a:gridCol w="3110948">
                  <a:extLst>
                    <a:ext uri="{9D8B030D-6E8A-4147-A177-3AD203B41FA5}">
                      <a16:colId xmlns:a16="http://schemas.microsoft.com/office/drawing/2014/main" val="4278273803"/>
                    </a:ext>
                  </a:extLst>
                </a:gridCol>
              </a:tblGrid>
              <a:tr h="17635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Graph Type</a:t>
                      </a:r>
                      <a:endParaRPr lang="en-AE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54975" marR="5497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Advantage</a:t>
                      </a:r>
                      <a:endParaRPr lang="en-AE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54975" marR="5497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Disadvantage</a:t>
                      </a:r>
                      <a:endParaRPr lang="en-AE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54975" marR="54975" marT="0" marB="0"/>
                </a:tc>
                <a:extLst>
                  <a:ext uri="{0D108BD9-81ED-4DB2-BD59-A6C34878D82A}">
                    <a16:rowId xmlns:a16="http://schemas.microsoft.com/office/drawing/2014/main" val="2512786459"/>
                  </a:ext>
                </a:extLst>
              </a:tr>
              <a:tr h="141079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AE" sz="1600" b="1" u="sng" dirty="0">
                          <a:solidFill>
                            <a:schemeClr val="accent2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Line </a:t>
                      </a:r>
                      <a:r>
                        <a:rPr lang="en-US" sz="1600" b="1" u="sng" dirty="0">
                          <a:solidFill>
                            <a:schemeClr val="accent2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graph </a:t>
                      </a:r>
                      <a:endParaRPr lang="en-AE" sz="1600" b="1" u="sng" dirty="0"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AE" sz="1400" b="0" dirty="0">
                          <a:solidFill>
                            <a:schemeClr val="accent2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A line graph plots continuous data as points and then joins them with a line. Multiple data sets can be graphed together, but a key must be used.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AE" sz="1400" b="0" dirty="0">
                          <a:solidFill>
                            <a:schemeClr val="accent2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 </a:t>
                      </a:r>
                      <a:endParaRPr lang="en-AE" sz="1400" b="0" dirty="0"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54975" marR="54975" marT="0" marB="0"/>
                </a:tc>
                <a:tc>
                  <a:txBody>
                    <a:bodyPr/>
                    <a:lstStyle/>
                    <a:p>
                      <a:pPr marL="342900" lvl="0" indent="-342900" rtl="0">
                        <a:spcAft>
                          <a:spcPts val="0"/>
                        </a:spcAft>
                        <a:buFont typeface="Symbol" pitchFamily="2" charset="2"/>
                        <a:buChar char=""/>
                      </a:pPr>
                      <a:r>
                        <a:rPr lang="en-AE" sz="1400">
                          <a:effectLst/>
                        </a:rPr>
                        <a:t>Can compare multiple continuous data sets easily</a:t>
                      </a:r>
                    </a:p>
                    <a:p>
                      <a:pPr marL="342900" lvl="0" indent="-342900">
                        <a:spcAft>
                          <a:spcPts val="0"/>
                        </a:spcAft>
                        <a:buFont typeface="Symbol" pitchFamily="2" charset="2"/>
                        <a:buChar char=""/>
                      </a:pPr>
                      <a:r>
                        <a:rPr lang="en-AE" sz="1400">
                          <a:effectLst/>
                        </a:rPr>
                        <a:t>Interim data can be inferred from graph line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AE" sz="1400">
                          <a:effectLst/>
                        </a:rPr>
                        <a:t> </a:t>
                      </a:r>
                      <a:endParaRPr lang="en-AE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54975" marR="54975" marT="0" marB="0"/>
                </a:tc>
                <a:tc>
                  <a:txBody>
                    <a:bodyPr/>
                    <a:lstStyle/>
                    <a:p>
                      <a:pPr marL="342900" lvl="0" indent="-342900" rtl="0">
                        <a:spcAft>
                          <a:spcPts val="0"/>
                        </a:spcAft>
                        <a:buFont typeface="Symbol" pitchFamily="2" charset="2"/>
                        <a:buChar char=""/>
                      </a:pPr>
                      <a:r>
                        <a:rPr lang="en-AE" sz="1400">
                          <a:effectLst/>
                        </a:rPr>
                        <a:t>Use only with continuous data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AE" sz="1400">
                          <a:effectLst/>
                        </a:rPr>
                        <a:t> </a:t>
                      </a:r>
                      <a:endParaRPr lang="en-AE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54975" marR="54975" marT="0" marB="0"/>
                </a:tc>
                <a:extLst>
                  <a:ext uri="{0D108BD9-81ED-4DB2-BD59-A6C34878D82A}">
                    <a16:rowId xmlns:a16="http://schemas.microsoft.com/office/drawing/2014/main" val="799868060"/>
                  </a:ext>
                </a:extLst>
              </a:tr>
              <a:tr h="176349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AE" sz="1600" b="1" u="sng" kern="1200" dirty="0">
                          <a:solidFill>
                            <a:schemeClr val="accent2">
                              <a:lumMod val="40000"/>
                              <a:lumOff val="6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Bar graph 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AE" sz="1400" b="0" dirty="0">
                          <a:solidFill>
                            <a:schemeClr val="accent2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A bar graph displays discrete data in separate columns. A double bar graph can be used to compare two data sets. Categories are considered unordered and can be rearranged alphabetically, by size, etc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AE" sz="1400" b="0" dirty="0">
                          <a:solidFill>
                            <a:schemeClr val="accent2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 </a:t>
                      </a:r>
                      <a:endParaRPr lang="en-AE" sz="1400" b="0" dirty="0"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54975" marR="54975" marT="0" marB="0"/>
                </a:tc>
                <a:tc>
                  <a:txBody>
                    <a:bodyPr/>
                    <a:lstStyle/>
                    <a:p>
                      <a:pPr marL="342900" lvl="0" indent="-342900" rtl="0">
                        <a:spcAft>
                          <a:spcPts val="0"/>
                        </a:spcAft>
                        <a:buFont typeface="Symbol" pitchFamily="2" charset="2"/>
                        <a:buChar char=""/>
                      </a:pPr>
                      <a:r>
                        <a:rPr lang="en-AE" sz="1400">
                          <a:effectLst/>
                        </a:rPr>
                        <a:t>Visually strong</a:t>
                      </a:r>
                    </a:p>
                    <a:p>
                      <a:pPr marL="342900" lvl="0" indent="-342900">
                        <a:spcAft>
                          <a:spcPts val="0"/>
                        </a:spcAft>
                        <a:buFont typeface="Symbol" pitchFamily="2" charset="2"/>
                        <a:buChar char=""/>
                      </a:pPr>
                      <a:r>
                        <a:rPr lang="en-AE" sz="1400">
                          <a:effectLst/>
                        </a:rPr>
                        <a:t>Can easily compare two or three data sets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AE" sz="1400">
                          <a:effectLst/>
                        </a:rPr>
                        <a:t> </a:t>
                      </a:r>
                      <a:endParaRPr lang="en-AE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54975" marR="54975" marT="0" marB="0"/>
                </a:tc>
                <a:tc>
                  <a:txBody>
                    <a:bodyPr/>
                    <a:lstStyle/>
                    <a:p>
                      <a:pPr marL="342900" lvl="0" indent="-342900" rtl="0">
                        <a:spcAft>
                          <a:spcPts val="0"/>
                        </a:spcAft>
                        <a:buFont typeface="Symbol" pitchFamily="2" charset="2"/>
                        <a:buChar char=""/>
                      </a:pPr>
                      <a:r>
                        <a:rPr lang="en-AE" sz="1400">
                          <a:effectLst/>
                        </a:rPr>
                        <a:t>Graph categories can be reordered to emphasize certain effects</a:t>
                      </a:r>
                    </a:p>
                    <a:p>
                      <a:pPr marL="342900" lvl="0" indent="-342900">
                        <a:spcAft>
                          <a:spcPts val="0"/>
                        </a:spcAft>
                        <a:buFont typeface="Symbol" pitchFamily="2" charset="2"/>
                        <a:buChar char=""/>
                      </a:pPr>
                      <a:r>
                        <a:rPr lang="en-AE" sz="1400">
                          <a:effectLst/>
                        </a:rPr>
                        <a:t>Use only with discrete data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AE" sz="1400">
                          <a:effectLst/>
                        </a:rPr>
                        <a:t> </a:t>
                      </a:r>
                      <a:endParaRPr lang="en-AE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54975" marR="54975" marT="0" marB="0"/>
                </a:tc>
                <a:extLst>
                  <a:ext uri="{0D108BD9-81ED-4DB2-BD59-A6C34878D82A}">
                    <a16:rowId xmlns:a16="http://schemas.microsoft.com/office/drawing/2014/main" val="2531722688"/>
                  </a:ext>
                </a:extLst>
              </a:tr>
              <a:tr h="2292547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AE" sz="1600" b="1" u="sng" kern="1200" dirty="0">
                          <a:solidFill>
                            <a:schemeClr val="accent2">
                              <a:lumMod val="40000"/>
                              <a:lumOff val="6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Pie chart 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AE" sz="1400" b="0" dirty="0">
                          <a:solidFill>
                            <a:schemeClr val="accent2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A pie chart displays data as a percentage of the whole. Each pie section should have a label and percentage. A total data number should be included.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AE" sz="1400" b="0" dirty="0">
                          <a:solidFill>
                            <a:schemeClr val="accent2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 </a:t>
                      </a:r>
                      <a:endParaRPr lang="en-AE" sz="1400" b="0" dirty="0"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54975" marR="54975" marT="0" marB="0"/>
                </a:tc>
                <a:tc>
                  <a:txBody>
                    <a:bodyPr/>
                    <a:lstStyle/>
                    <a:p>
                      <a:pPr marL="342900" lvl="0" indent="-342900" rtl="0">
                        <a:spcAft>
                          <a:spcPts val="0"/>
                        </a:spcAft>
                        <a:buFont typeface="Symbol" pitchFamily="2" charset="2"/>
                        <a:buChar char=""/>
                      </a:pPr>
                      <a:r>
                        <a:rPr lang="en-AE" sz="1400">
                          <a:effectLst/>
                        </a:rPr>
                        <a:t>Visually appealing</a:t>
                      </a:r>
                    </a:p>
                    <a:p>
                      <a:pPr marL="342900" lvl="0" indent="-342900">
                        <a:spcAft>
                          <a:spcPts val="0"/>
                        </a:spcAft>
                        <a:buFont typeface="Symbol" pitchFamily="2" charset="2"/>
                        <a:buChar char=""/>
                      </a:pPr>
                      <a:r>
                        <a:rPr lang="en-AE" sz="1400">
                          <a:effectLst/>
                        </a:rPr>
                        <a:t>Shows percent of total for each category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AE" sz="1400">
                          <a:effectLst/>
                        </a:rPr>
                        <a:t> </a:t>
                      </a:r>
                      <a:endParaRPr lang="en-AE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54975" marR="54975" marT="0" marB="0"/>
                </a:tc>
                <a:tc>
                  <a:txBody>
                    <a:bodyPr/>
                    <a:lstStyle/>
                    <a:p>
                      <a:pPr marL="342900" lvl="0" indent="-342900" rtl="0">
                        <a:spcAft>
                          <a:spcPts val="0"/>
                        </a:spcAft>
                        <a:buFont typeface="Symbol" pitchFamily="2" charset="2"/>
                        <a:buChar char=""/>
                      </a:pPr>
                      <a:r>
                        <a:rPr lang="en-AE" sz="1400" dirty="0">
                          <a:effectLst/>
                        </a:rPr>
                        <a:t>No exact numerical data </a:t>
                      </a:r>
                    </a:p>
                    <a:p>
                      <a:pPr marL="342900" lvl="0" indent="-342900">
                        <a:spcAft>
                          <a:spcPts val="0"/>
                        </a:spcAft>
                        <a:buFont typeface="Symbol" pitchFamily="2" charset="2"/>
                        <a:buChar char=""/>
                      </a:pPr>
                      <a:r>
                        <a:rPr lang="en-AE" sz="1400" dirty="0">
                          <a:effectLst/>
                        </a:rPr>
                        <a:t>Hard to compare 2 data sets</a:t>
                      </a:r>
                    </a:p>
                    <a:p>
                      <a:pPr marL="342900" lvl="0" indent="-342900">
                        <a:spcAft>
                          <a:spcPts val="0"/>
                        </a:spcAft>
                        <a:buFont typeface="Symbol" pitchFamily="2" charset="2"/>
                        <a:buChar char=""/>
                      </a:pPr>
                      <a:r>
                        <a:rPr lang="en-AE" sz="1400" dirty="0">
                          <a:effectLst/>
                        </a:rPr>
                        <a:t>"Other" category can be a problem </a:t>
                      </a:r>
                    </a:p>
                    <a:p>
                      <a:pPr marL="342900" lvl="0" indent="-342900">
                        <a:spcAft>
                          <a:spcPts val="0"/>
                        </a:spcAft>
                        <a:buFont typeface="Symbol" pitchFamily="2" charset="2"/>
                        <a:buChar char=""/>
                      </a:pPr>
                      <a:r>
                        <a:rPr lang="en-AE" sz="1400" dirty="0">
                          <a:effectLst/>
                        </a:rPr>
                        <a:t>Total unknown unless specified</a:t>
                      </a:r>
                    </a:p>
                    <a:p>
                      <a:pPr marL="342900" lvl="0" indent="-342900">
                        <a:spcAft>
                          <a:spcPts val="0"/>
                        </a:spcAft>
                        <a:buFont typeface="Symbol" pitchFamily="2" charset="2"/>
                        <a:buChar char=""/>
                      </a:pPr>
                      <a:r>
                        <a:rPr lang="en-AE" sz="1400" dirty="0">
                          <a:effectLst/>
                        </a:rPr>
                        <a:t>Best for 3 to 7 categories</a:t>
                      </a:r>
                    </a:p>
                    <a:p>
                      <a:pPr marL="342900" lvl="0" indent="-342900">
                        <a:spcAft>
                          <a:spcPts val="0"/>
                        </a:spcAft>
                        <a:buFont typeface="Symbol" pitchFamily="2" charset="2"/>
                        <a:buChar char=""/>
                      </a:pPr>
                      <a:r>
                        <a:rPr lang="en-AE" sz="1400" dirty="0">
                          <a:effectLst/>
                        </a:rPr>
                        <a:t>Use only with discrete data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AE" sz="1400" dirty="0">
                          <a:effectLst/>
                        </a:rPr>
                        <a:t> </a:t>
                      </a:r>
                      <a:endParaRPr lang="en-AE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54975" marR="54975" marT="0" marB="0"/>
                </a:tc>
                <a:extLst>
                  <a:ext uri="{0D108BD9-81ED-4DB2-BD59-A6C34878D82A}">
                    <a16:rowId xmlns:a16="http://schemas.microsoft.com/office/drawing/2014/main" val="32353404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443822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115">
            <a:extLst>
              <a:ext uri="{FF2B5EF4-FFF2-40B4-BE49-F238E27FC236}">
                <a16:creationId xmlns:a16="http://schemas.microsoft.com/office/drawing/2014/main" id="{BD0139C6-603B-9345-A30F-8EBD7C86936C}"/>
              </a:ext>
            </a:extLst>
          </p:cNvPr>
          <p:cNvSpPr txBox="1"/>
          <p:nvPr/>
        </p:nvSpPr>
        <p:spPr>
          <a:xfrm>
            <a:off x="0" y="72785"/>
            <a:ext cx="9906000" cy="47610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wrap="square" lIns="63294" tIns="31638" rIns="63294" bIns="31638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1800" b="1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</a:lstStyle>
          <a:p>
            <a:r>
              <a:rPr lang="en-US" sz="2800" dirty="0">
                <a:sym typeface="Calibri"/>
              </a:rPr>
              <a:t>Comparison of different charts. 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C754540-1F60-C34B-B402-7241CCC8BB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3996326"/>
              </p:ext>
            </p:extLst>
          </p:nvPr>
        </p:nvGraphicFramePr>
        <p:xfrm>
          <a:off x="1357403" y="669116"/>
          <a:ext cx="8845826" cy="571068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031435">
                  <a:extLst>
                    <a:ext uri="{9D8B030D-6E8A-4147-A177-3AD203B41FA5}">
                      <a16:colId xmlns:a16="http://schemas.microsoft.com/office/drawing/2014/main" val="3250479435"/>
                    </a:ext>
                  </a:extLst>
                </a:gridCol>
                <a:gridCol w="2703443">
                  <a:extLst>
                    <a:ext uri="{9D8B030D-6E8A-4147-A177-3AD203B41FA5}">
                      <a16:colId xmlns:a16="http://schemas.microsoft.com/office/drawing/2014/main" val="3123772079"/>
                    </a:ext>
                  </a:extLst>
                </a:gridCol>
                <a:gridCol w="3110948">
                  <a:extLst>
                    <a:ext uri="{9D8B030D-6E8A-4147-A177-3AD203B41FA5}">
                      <a16:colId xmlns:a16="http://schemas.microsoft.com/office/drawing/2014/main" val="4278273803"/>
                    </a:ext>
                  </a:extLst>
                </a:gridCol>
              </a:tblGrid>
              <a:tr h="17635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Graph Type</a:t>
                      </a:r>
                      <a:endParaRPr lang="en-AE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54975" marR="5497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Advantage</a:t>
                      </a:r>
                      <a:endParaRPr lang="en-AE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54975" marR="5497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Disadvantage</a:t>
                      </a:r>
                      <a:endParaRPr lang="en-AE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54975" marR="54975" marT="0" marB="0"/>
                </a:tc>
                <a:extLst>
                  <a:ext uri="{0D108BD9-81ED-4DB2-BD59-A6C34878D82A}">
                    <a16:rowId xmlns:a16="http://schemas.microsoft.com/office/drawing/2014/main" val="2512786459"/>
                  </a:ext>
                </a:extLst>
              </a:tr>
              <a:tr h="141079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AE" sz="1600" b="1" u="sng" dirty="0">
                          <a:solidFill>
                            <a:schemeClr val="accent2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Histogram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b="0" kern="1200" dirty="0">
                          <a:solidFill>
                            <a:schemeClr val="accent2">
                              <a:lumMod val="40000"/>
                              <a:lumOff val="6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 histogram displays continuous data in ordered columns. Categories are of continuous measure such as time, inches, temperature, etc.</a:t>
                      </a:r>
                      <a:r>
                        <a:rPr lang="en-AE" sz="1400" b="0" kern="1200" dirty="0">
                          <a:solidFill>
                            <a:schemeClr val="accent2">
                              <a:lumMod val="40000"/>
                              <a:lumOff val="6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54975" marR="54975" marT="0" marB="0"/>
                </a:tc>
                <a:tc>
                  <a:txBody>
                    <a:bodyPr/>
                    <a:lstStyle/>
                    <a:p>
                      <a:pPr marL="342900" lvl="0" indent="-342900" algn="l" defTabSz="914400" rtl="0" eaLnBrk="1" latinLnBrk="0" hangingPunct="1">
                        <a:spcAft>
                          <a:spcPts val="0"/>
                        </a:spcAft>
                        <a:buFont typeface="Symbol" pitchFamily="2" charset="2"/>
                        <a:buChar char=""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Visually strong </a:t>
                      </a:r>
                    </a:p>
                    <a:p>
                      <a:pPr marL="342900" lvl="0" indent="-342900" algn="l" defTabSz="914400" rtl="0" eaLnBrk="1" latinLnBrk="0" hangingPunct="1">
                        <a:spcAft>
                          <a:spcPts val="0"/>
                        </a:spcAft>
                        <a:buFont typeface="Symbol" pitchFamily="2" charset="2"/>
                        <a:buChar char=""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Can compare to normal curve</a:t>
                      </a:r>
                    </a:p>
                    <a:p>
                      <a:pPr marL="342900" lvl="0" indent="-342900" algn="l" defTabSz="914400" rtl="0" eaLnBrk="1" latinLnBrk="0" hangingPunct="1">
                        <a:spcAft>
                          <a:spcPts val="0"/>
                        </a:spcAft>
                        <a:buFont typeface="Symbol" pitchFamily="2" charset="2"/>
                        <a:buChar char=""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Usually vertical axis is a frequency count of items falling into each category</a:t>
                      </a:r>
                      <a:r>
                        <a:rPr lang="en-AE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54975" marR="54975" marT="0" marB="0"/>
                </a:tc>
                <a:tc>
                  <a:txBody>
                    <a:bodyPr/>
                    <a:lstStyle/>
                    <a:p>
                      <a:pPr marL="342900" lvl="0" indent="-342900" rtl="0">
                        <a:spcAft>
                          <a:spcPts val="0"/>
                        </a:spcAft>
                        <a:buFont typeface="Symbol" pitchFamily="2" charset="2"/>
                        <a:buChar char=""/>
                      </a:pPr>
                      <a:r>
                        <a:rPr lang="en-US" sz="1400" dirty="0"/>
                        <a:t>Cannot read exact values because data is grouped into categories</a:t>
                      </a:r>
                    </a:p>
                    <a:p>
                      <a:pPr marL="342900" lvl="0" indent="-342900" rtl="0">
                        <a:spcAft>
                          <a:spcPts val="0"/>
                        </a:spcAft>
                        <a:buFont typeface="Symbol" pitchFamily="2" charset="2"/>
                        <a:buChar char=""/>
                      </a:pPr>
                      <a:r>
                        <a:rPr lang="en-US" sz="1400" dirty="0"/>
                        <a:t>More difficult to compare two data sets</a:t>
                      </a:r>
                    </a:p>
                    <a:p>
                      <a:pPr marL="342900" lvl="0" indent="-342900" rtl="0">
                        <a:spcAft>
                          <a:spcPts val="0"/>
                        </a:spcAft>
                        <a:buFont typeface="Symbol" pitchFamily="2" charset="2"/>
                        <a:buChar char=""/>
                      </a:pPr>
                      <a:r>
                        <a:rPr lang="en-US" sz="1400" dirty="0"/>
                        <a:t>Use only with continuous data</a:t>
                      </a:r>
                      <a:endParaRPr lang="en-AE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54975" marR="54975" marT="0" marB="0"/>
                </a:tc>
                <a:extLst>
                  <a:ext uri="{0D108BD9-81ED-4DB2-BD59-A6C34878D82A}">
                    <a16:rowId xmlns:a16="http://schemas.microsoft.com/office/drawing/2014/main" val="799868060"/>
                  </a:ext>
                </a:extLst>
              </a:tr>
              <a:tr h="176349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600" b="1" u="sng" kern="1200" dirty="0">
                          <a:solidFill>
                            <a:schemeClr val="accent2">
                              <a:lumMod val="40000"/>
                              <a:lumOff val="6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Pictograph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AE" sz="1400" b="0" kern="1200" dirty="0">
                          <a:solidFill>
                            <a:schemeClr val="accent2">
                              <a:lumMod val="40000"/>
                              <a:lumOff val="6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sz="1400" b="0" kern="1200" dirty="0">
                          <a:solidFill>
                            <a:schemeClr val="accent2">
                              <a:lumMod val="40000"/>
                              <a:lumOff val="6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 pictograph uses an icon to represent a quantity of data values in order to decrease the size of the graph. A key must be used to explain the icon.</a:t>
                      </a:r>
                      <a:endParaRPr lang="en-AE" sz="1400" b="0" kern="1200" dirty="0"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975" marR="54975" marT="0" marB="0"/>
                </a:tc>
                <a:tc>
                  <a:txBody>
                    <a:bodyPr/>
                    <a:lstStyle/>
                    <a:p>
                      <a:pPr marL="342900" lvl="0" indent="-342900" rtl="0">
                        <a:spcAft>
                          <a:spcPts val="0"/>
                        </a:spcAft>
                        <a:buFont typeface="Symbol" pitchFamily="2" charset="2"/>
                        <a:buChar char=""/>
                      </a:pPr>
                      <a:r>
                        <a:rPr lang="en-US" sz="1400" dirty="0"/>
                        <a:t>Easy to read</a:t>
                      </a:r>
                    </a:p>
                    <a:p>
                      <a:pPr marL="342900" lvl="0" indent="-342900" rtl="0">
                        <a:spcAft>
                          <a:spcPts val="0"/>
                        </a:spcAft>
                        <a:buFont typeface="Symbol" pitchFamily="2" charset="2"/>
                        <a:buChar char=""/>
                      </a:pPr>
                      <a:r>
                        <a:rPr lang="en-US" sz="1400" dirty="0"/>
                        <a:t>Visually appealing</a:t>
                      </a:r>
                    </a:p>
                    <a:p>
                      <a:pPr marL="342900" lvl="0" indent="-342900" rtl="0">
                        <a:spcAft>
                          <a:spcPts val="0"/>
                        </a:spcAft>
                        <a:buFont typeface="Symbol" pitchFamily="2" charset="2"/>
                        <a:buChar char=""/>
                      </a:pPr>
                      <a:r>
                        <a:rPr lang="en-US" sz="1400" dirty="0"/>
                        <a:t>Handles large data sets easily using keyed icons</a:t>
                      </a:r>
                      <a:endParaRPr lang="en-AE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54975" marR="54975" marT="0" marB="0"/>
                </a:tc>
                <a:tc>
                  <a:txBody>
                    <a:bodyPr/>
                    <a:lstStyle/>
                    <a:p>
                      <a:pPr marL="342900" lvl="0" indent="-342900" rtl="0">
                        <a:spcAft>
                          <a:spcPts val="0"/>
                        </a:spcAft>
                        <a:buFont typeface="Symbol" pitchFamily="2" charset="2"/>
                        <a:buChar char=""/>
                      </a:pPr>
                      <a:r>
                        <a:rPr lang="en-US" sz="1400" dirty="0"/>
                        <a:t>Hard to quantify partial icons </a:t>
                      </a:r>
                    </a:p>
                    <a:p>
                      <a:pPr marL="342900" lvl="0" indent="-342900" rtl="0">
                        <a:spcAft>
                          <a:spcPts val="0"/>
                        </a:spcAft>
                        <a:buFont typeface="Symbol" pitchFamily="2" charset="2"/>
                        <a:buChar char=""/>
                      </a:pPr>
                      <a:r>
                        <a:rPr lang="en-US" sz="1400" dirty="0"/>
                        <a:t>Icons must be of consistent size</a:t>
                      </a:r>
                    </a:p>
                    <a:p>
                      <a:pPr marL="342900" lvl="0" indent="-342900" rtl="0">
                        <a:spcAft>
                          <a:spcPts val="0"/>
                        </a:spcAft>
                        <a:buFont typeface="Symbol" pitchFamily="2" charset="2"/>
                        <a:buChar char=""/>
                      </a:pPr>
                      <a:r>
                        <a:rPr lang="en-US" sz="1400" dirty="0"/>
                        <a:t>Best for only 2-6 categories </a:t>
                      </a:r>
                    </a:p>
                    <a:p>
                      <a:pPr marL="342900" lvl="0" indent="-342900" rtl="0">
                        <a:spcAft>
                          <a:spcPts val="0"/>
                        </a:spcAft>
                        <a:buFont typeface="Symbol" pitchFamily="2" charset="2"/>
                        <a:buChar char=""/>
                      </a:pPr>
                      <a:r>
                        <a:rPr lang="en-US" sz="1400" dirty="0"/>
                        <a:t>Very simplistic</a:t>
                      </a:r>
                      <a:r>
                        <a:rPr lang="en-AE" sz="1400" dirty="0">
                          <a:effectLst/>
                        </a:rPr>
                        <a:t> </a:t>
                      </a:r>
                      <a:endParaRPr lang="en-AE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54975" marR="54975" marT="0" marB="0"/>
                </a:tc>
                <a:extLst>
                  <a:ext uri="{0D108BD9-81ED-4DB2-BD59-A6C34878D82A}">
                    <a16:rowId xmlns:a16="http://schemas.microsoft.com/office/drawing/2014/main" val="2531722688"/>
                  </a:ext>
                </a:extLst>
              </a:tr>
              <a:tr h="2292547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600" b="1" u="sng" kern="1200" dirty="0">
                          <a:solidFill>
                            <a:schemeClr val="accent2">
                              <a:lumMod val="40000"/>
                              <a:lumOff val="6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Map chart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AE" sz="1400" b="0" dirty="0">
                          <a:solidFill>
                            <a:schemeClr val="accent2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 </a:t>
                      </a:r>
                      <a:r>
                        <a:rPr lang="en-US" sz="1400" b="0" kern="1200" dirty="0">
                          <a:solidFill>
                            <a:schemeClr val="accent2">
                              <a:lumMod val="40000"/>
                              <a:lumOff val="6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 map chart displays data by shading sections of a map, and must include a key. A total data number should be included.</a:t>
                      </a:r>
                      <a:endParaRPr lang="en-AE" sz="1400" b="0" kern="1200" dirty="0"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975" marR="54975" marT="0" marB="0"/>
                </a:tc>
                <a:tc>
                  <a:txBody>
                    <a:bodyPr/>
                    <a:lstStyle/>
                    <a:p>
                      <a:pPr marL="342900" lvl="0" indent="-342900" rtl="0">
                        <a:spcAft>
                          <a:spcPts val="0"/>
                        </a:spcAft>
                        <a:buFont typeface="Symbol" pitchFamily="2" charset="2"/>
                        <a:buChar char=""/>
                      </a:pPr>
                      <a:r>
                        <a:rPr lang="en-US" sz="1400" dirty="0"/>
                        <a:t>Good visual appeal</a:t>
                      </a:r>
                    </a:p>
                    <a:p>
                      <a:pPr marL="342900" lvl="0" indent="-342900" rtl="0">
                        <a:spcAft>
                          <a:spcPts val="0"/>
                        </a:spcAft>
                        <a:buFont typeface="Symbol" pitchFamily="2" charset="2"/>
                        <a:buChar char=""/>
                      </a:pPr>
                      <a:r>
                        <a:rPr lang="en-US" sz="1400" dirty="0"/>
                        <a:t>Overall trends show well</a:t>
                      </a:r>
                      <a:r>
                        <a:rPr lang="en-AE" sz="1400" dirty="0">
                          <a:effectLst/>
                        </a:rPr>
                        <a:t> </a:t>
                      </a:r>
                      <a:endParaRPr lang="en-AE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54975" marR="54975" marT="0" marB="0"/>
                </a:tc>
                <a:tc>
                  <a:txBody>
                    <a:bodyPr/>
                    <a:lstStyle/>
                    <a:p>
                      <a:pPr marL="342900" lvl="0" indent="-342900" rtl="0">
                        <a:spcAft>
                          <a:spcPts val="0"/>
                        </a:spcAft>
                        <a:buFont typeface="Symbol" pitchFamily="2" charset="2"/>
                        <a:buChar char=""/>
                      </a:pPr>
                      <a:r>
                        <a:rPr lang="en-US" sz="1400" dirty="0"/>
                        <a:t>Needs limited categories</a:t>
                      </a:r>
                    </a:p>
                    <a:p>
                      <a:pPr marL="342900" lvl="0" indent="-342900" rtl="0">
                        <a:spcAft>
                          <a:spcPts val="0"/>
                        </a:spcAft>
                        <a:buFont typeface="Symbol" pitchFamily="2" charset="2"/>
                        <a:buChar char=""/>
                      </a:pPr>
                      <a:r>
                        <a:rPr lang="en-US" sz="1400" dirty="0"/>
                        <a:t>No exact numerical values</a:t>
                      </a:r>
                    </a:p>
                    <a:p>
                      <a:pPr marL="342900" lvl="0" indent="-342900" rtl="0">
                        <a:spcAft>
                          <a:spcPts val="0"/>
                        </a:spcAft>
                        <a:buFont typeface="Symbol" pitchFamily="2" charset="2"/>
                        <a:buChar char=""/>
                      </a:pPr>
                      <a:r>
                        <a:rPr lang="en-US" sz="1400" dirty="0"/>
                        <a:t>Color key can skew visual interpretation</a:t>
                      </a:r>
                      <a:r>
                        <a:rPr lang="en-AE" sz="1400" dirty="0">
                          <a:effectLst/>
                        </a:rPr>
                        <a:t> </a:t>
                      </a:r>
                      <a:endParaRPr lang="en-AE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54975" marR="54975" marT="0" marB="0"/>
                </a:tc>
                <a:extLst>
                  <a:ext uri="{0D108BD9-81ED-4DB2-BD59-A6C34878D82A}">
                    <a16:rowId xmlns:a16="http://schemas.microsoft.com/office/drawing/2014/main" val="3235340408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811FD554-1C25-0740-BD1A-745A2B3F68FF}"/>
              </a:ext>
            </a:extLst>
          </p:cNvPr>
          <p:cNvSpPr/>
          <p:nvPr/>
        </p:nvSpPr>
        <p:spPr>
          <a:xfrm>
            <a:off x="1600200" y="6427113"/>
            <a:ext cx="10366516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>
                <a:hlinkClick r:id="rId2"/>
              </a:rPr>
              <a:t>Source: https://www.whaqualitycenter.org/Portals/0/Tools%20to%20Use/Making%20Sense%20of%20Data/Using%20Graphs%20to%20Display%20Data%20R%202-12.pdf</a:t>
            </a:r>
            <a:endParaRPr lang="en-AE" sz="1100" dirty="0"/>
          </a:p>
        </p:txBody>
      </p:sp>
    </p:spTree>
    <p:extLst>
      <p:ext uri="{BB962C8B-B14F-4D97-AF65-F5344CB8AC3E}">
        <p14:creationId xmlns:p14="http://schemas.microsoft.com/office/powerpoint/2010/main" val="165336136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115">
            <a:extLst>
              <a:ext uri="{FF2B5EF4-FFF2-40B4-BE49-F238E27FC236}">
                <a16:creationId xmlns:a16="http://schemas.microsoft.com/office/drawing/2014/main" id="{C42BD211-4F13-9747-92F5-9653072AB561}"/>
              </a:ext>
            </a:extLst>
          </p:cNvPr>
          <p:cNvSpPr txBox="1"/>
          <p:nvPr/>
        </p:nvSpPr>
        <p:spPr>
          <a:xfrm>
            <a:off x="0" y="94964"/>
            <a:ext cx="9906000" cy="47610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wrap="square" lIns="63294" tIns="31638" rIns="63294" bIns="31638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1800" b="1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</a:lstStyle>
          <a:p>
            <a:r>
              <a:rPr lang="en-US" sz="2400" dirty="0"/>
              <a:t>Plotting a Line Chart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19E277-8FAA-8648-886E-5F0FFAD050D6}"/>
              </a:ext>
            </a:extLst>
          </p:cNvPr>
          <p:cNvSpPr txBox="1"/>
          <p:nvPr/>
        </p:nvSpPr>
        <p:spPr>
          <a:xfrm>
            <a:off x="318618" y="1439088"/>
            <a:ext cx="4455066" cy="4035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22" dirty="0"/>
              <a:t>The structure of the command line is: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26A4F5-12B7-4D4A-8368-80F6CC5E8A96}"/>
              </a:ext>
            </a:extLst>
          </p:cNvPr>
          <p:cNvSpPr txBox="1"/>
          <p:nvPr/>
        </p:nvSpPr>
        <p:spPr>
          <a:xfrm>
            <a:off x="4663705" y="1429992"/>
            <a:ext cx="3387466" cy="403508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2022" b="1" dirty="0" err="1"/>
              <a:t>DataFrame</a:t>
            </a:r>
            <a:r>
              <a:rPr lang="en-US" sz="2022" b="1" dirty="0"/>
              <a:t>[</a:t>
            </a:r>
            <a:r>
              <a:rPr lang="en-US" sz="2022" b="1" dirty="0">
                <a:solidFill>
                  <a:srgbClr val="FF0000"/>
                </a:solidFill>
              </a:rPr>
              <a:t>Column</a:t>
            </a:r>
            <a:r>
              <a:rPr lang="en-US" sz="2022" b="1" dirty="0"/>
              <a:t>].</a:t>
            </a:r>
            <a:r>
              <a:rPr lang="en-US" sz="2022" b="1" dirty="0">
                <a:solidFill>
                  <a:srgbClr val="00B0F0"/>
                </a:solidFill>
              </a:rPr>
              <a:t>plot()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8BF8F3A-21F8-C44E-B049-50A725A8931A}"/>
              </a:ext>
            </a:extLst>
          </p:cNvPr>
          <p:cNvSpPr/>
          <p:nvPr/>
        </p:nvSpPr>
        <p:spPr>
          <a:xfrm>
            <a:off x="155713" y="672816"/>
            <a:ext cx="975028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AE" dirty="0"/>
              <a:t>A line graph plots continuous data as points and then joins them with a line. Multiple data sets can be graphed together, but a key must be used.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797230-F74D-2047-8508-90247E8B8D56}"/>
              </a:ext>
            </a:extLst>
          </p:cNvPr>
          <p:cNvSpPr txBox="1"/>
          <p:nvPr/>
        </p:nvSpPr>
        <p:spPr>
          <a:xfrm>
            <a:off x="318618" y="1962537"/>
            <a:ext cx="1210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E" b="1" dirty="0">
                <a:solidFill>
                  <a:srgbClr val="00B050"/>
                </a:solidFill>
              </a:rPr>
              <a:t>Example: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5A783C-3164-0B41-8133-E26090B9B7A4}"/>
              </a:ext>
            </a:extLst>
          </p:cNvPr>
          <p:cNvSpPr/>
          <p:nvPr/>
        </p:nvSpPr>
        <p:spPr>
          <a:xfrm>
            <a:off x="1529206" y="2674399"/>
            <a:ext cx="9286460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AE" sz="2400" dirty="0"/>
              <a:t>df[['Graduate _ UnderGraduate','Graduated_Post Graduate']].plot()</a:t>
            </a:r>
          </a:p>
        </p:txBody>
      </p:sp>
      <p:pic>
        <p:nvPicPr>
          <p:cNvPr id="6" name="Picture 5" descr="A screenshot of a cell phone&#10;&#10;Description automatically generated">
            <a:extLst>
              <a:ext uri="{FF2B5EF4-FFF2-40B4-BE49-F238E27FC236}">
                <a16:creationId xmlns:a16="http://schemas.microsoft.com/office/drawing/2014/main" id="{BB0B92AD-8F93-904B-9DBE-38BC857FE6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9206" y="3488946"/>
            <a:ext cx="5424280" cy="3316687"/>
          </a:xfrm>
          <a:prstGeom prst="rect">
            <a:avLst/>
          </a:prstGeom>
        </p:spPr>
      </p:pic>
      <p:pic>
        <p:nvPicPr>
          <p:cNvPr id="8" name="Picture 7" descr="A screenshot of a cell phone&#10;&#10;Description automatically generated">
            <a:extLst>
              <a:ext uri="{FF2B5EF4-FFF2-40B4-BE49-F238E27FC236}">
                <a16:creationId xmlns:a16="http://schemas.microsoft.com/office/drawing/2014/main" id="{9515D493-1FB4-8E48-9F5A-8B7A6E6F93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2832" y="3479632"/>
            <a:ext cx="3868794" cy="316404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D9FC4D7-F4D4-2E43-847B-22AEE1A40ECF}"/>
              </a:ext>
            </a:extLst>
          </p:cNvPr>
          <p:cNvSpPr txBox="1"/>
          <p:nvPr/>
        </p:nvSpPr>
        <p:spPr>
          <a:xfrm>
            <a:off x="1529206" y="1965419"/>
            <a:ext cx="95912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E" sz="1600" dirty="0"/>
              <a:t>A line chart to display number of students enrolled in Undergraduate and Post Graduate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6A5570E-D6CB-FE4C-BB2A-1E424ECA1EEF}"/>
              </a:ext>
            </a:extLst>
          </p:cNvPr>
          <p:cNvSpPr txBox="1"/>
          <p:nvPr/>
        </p:nvSpPr>
        <p:spPr>
          <a:xfrm>
            <a:off x="8152632" y="1420097"/>
            <a:ext cx="3906839" cy="403508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2022" b="1" dirty="0" err="1"/>
              <a:t>DataFrame</a:t>
            </a:r>
            <a:r>
              <a:rPr lang="en-US" sz="2022" b="1" dirty="0"/>
              <a:t>[</a:t>
            </a:r>
            <a:r>
              <a:rPr lang="en-US" sz="2022" b="1" dirty="0">
                <a:solidFill>
                  <a:srgbClr val="FF0000"/>
                </a:solidFill>
              </a:rPr>
              <a:t>Column</a:t>
            </a:r>
            <a:r>
              <a:rPr lang="en-US" sz="2022" b="1" dirty="0"/>
              <a:t>].</a:t>
            </a:r>
            <a:r>
              <a:rPr lang="en-US" sz="2022" b="1" dirty="0" err="1">
                <a:solidFill>
                  <a:srgbClr val="00B0F0"/>
                </a:solidFill>
              </a:rPr>
              <a:t>plot.line</a:t>
            </a:r>
            <a:r>
              <a:rPr lang="en-US" sz="2022" b="1" dirty="0">
                <a:solidFill>
                  <a:srgbClr val="00B0F0"/>
                </a:solidFill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402928054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115">
            <a:extLst>
              <a:ext uri="{FF2B5EF4-FFF2-40B4-BE49-F238E27FC236}">
                <a16:creationId xmlns:a16="http://schemas.microsoft.com/office/drawing/2014/main" id="{C42BD211-4F13-9747-92F5-9653072AB561}"/>
              </a:ext>
            </a:extLst>
          </p:cNvPr>
          <p:cNvSpPr txBox="1"/>
          <p:nvPr/>
        </p:nvSpPr>
        <p:spPr>
          <a:xfrm>
            <a:off x="0" y="94964"/>
            <a:ext cx="9906000" cy="47610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wrap="square" lIns="63294" tIns="31638" rIns="63294" bIns="31638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1800" b="1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</a:lstStyle>
          <a:p>
            <a:r>
              <a:rPr lang="en-US" sz="2400" dirty="0"/>
              <a:t>Plotting a Bar Chart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19E277-8FAA-8648-886E-5F0FFAD050D6}"/>
              </a:ext>
            </a:extLst>
          </p:cNvPr>
          <p:cNvSpPr txBox="1"/>
          <p:nvPr/>
        </p:nvSpPr>
        <p:spPr>
          <a:xfrm>
            <a:off x="318618" y="1439088"/>
            <a:ext cx="4455066" cy="4035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22" dirty="0"/>
              <a:t>The structure of the command line is: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8BF8F3A-21F8-C44E-B049-50A725A8931A}"/>
              </a:ext>
            </a:extLst>
          </p:cNvPr>
          <p:cNvSpPr/>
          <p:nvPr/>
        </p:nvSpPr>
        <p:spPr>
          <a:xfrm>
            <a:off x="155713" y="672816"/>
            <a:ext cx="975028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AE" dirty="0"/>
              <a:t>A bar graph displays discrete data in separate columns. A double bar graph can be used to compare two data sets.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797230-F74D-2047-8508-90247E8B8D56}"/>
              </a:ext>
            </a:extLst>
          </p:cNvPr>
          <p:cNvSpPr txBox="1"/>
          <p:nvPr/>
        </p:nvSpPr>
        <p:spPr>
          <a:xfrm>
            <a:off x="318618" y="1962537"/>
            <a:ext cx="1210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E" b="1" dirty="0">
                <a:solidFill>
                  <a:srgbClr val="00B050"/>
                </a:solidFill>
              </a:rPr>
              <a:t>Example: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5A783C-3164-0B41-8133-E26090B9B7A4}"/>
              </a:ext>
            </a:extLst>
          </p:cNvPr>
          <p:cNvSpPr/>
          <p:nvPr/>
        </p:nvSpPr>
        <p:spPr>
          <a:xfrm>
            <a:off x="724136" y="2472461"/>
            <a:ext cx="10344175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AE" sz="2400" dirty="0"/>
              <a:t>df[['Graduate _ UnderGraduate','Graduated_Post Graduate']].plot.bar()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9FC4D7-F4D4-2E43-847B-22AEE1A40ECF}"/>
              </a:ext>
            </a:extLst>
          </p:cNvPr>
          <p:cNvSpPr txBox="1"/>
          <p:nvPr/>
        </p:nvSpPr>
        <p:spPr>
          <a:xfrm>
            <a:off x="1529206" y="1965419"/>
            <a:ext cx="103441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E" sz="1600" dirty="0"/>
              <a:t>A bar chart to display number of students enrolled in Undergraduate and Post Graduate in each Specialisation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6A5570E-D6CB-FE4C-BB2A-1E424ECA1EEF}"/>
              </a:ext>
            </a:extLst>
          </p:cNvPr>
          <p:cNvSpPr txBox="1"/>
          <p:nvPr/>
        </p:nvSpPr>
        <p:spPr>
          <a:xfrm>
            <a:off x="4773684" y="1470275"/>
            <a:ext cx="3863558" cy="403508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2022" b="1" dirty="0" err="1"/>
              <a:t>DataFrame</a:t>
            </a:r>
            <a:r>
              <a:rPr lang="en-US" sz="2022" b="1" dirty="0"/>
              <a:t>[</a:t>
            </a:r>
            <a:r>
              <a:rPr lang="en-US" sz="2022" b="1" dirty="0">
                <a:solidFill>
                  <a:srgbClr val="FF0000"/>
                </a:solidFill>
              </a:rPr>
              <a:t>Column</a:t>
            </a:r>
            <a:r>
              <a:rPr lang="en-US" sz="2022" b="1" dirty="0"/>
              <a:t>].</a:t>
            </a:r>
            <a:r>
              <a:rPr lang="en-US" sz="2022" b="1" dirty="0" err="1">
                <a:solidFill>
                  <a:srgbClr val="00B0F0"/>
                </a:solidFill>
              </a:rPr>
              <a:t>plot.bar</a:t>
            </a:r>
            <a:r>
              <a:rPr lang="en-US" sz="2022" b="1" dirty="0">
                <a:solidFill>
                  <a:srgbClr val="00B0F0"/>
                </a:solidFill>
              </a:rPr>
              <a:t>()</a:t>
            </a:r>
          </a:p>
        </p:txBody>
      </p:sp>
      <p:pic>
        <p:nvPicPr>
          <p:cNvPr id="7" name="Picture 6" descr="A screenshot of a social media post&#10;&#10;Description automatically generated">
            <a:extLst>
              <a:ext uri="{FF2B5EF4-FFF2-40B4-BE49-F238E27FC236}">
                <a16:creationId xmlns:a16="http://schemas.microsoft.com/office/drawing/2014/main" id="{0883E267-4E46-8F4F-9982-EE07C2A513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2902" y="3070715"/>
            <a:ext cx="5047531" cy="3577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39462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115">
            <a:extLst>
              <a:ext uri="{FF2B5EF4-FFF2-40B4-BE49-F238E27FC236}">
                <a16:creationId xmlns:a16="http://schemas.microsoft.com/office/drawing/2014/main" id="{C42BD211-4F13-9747-92F5-9653072AB561}"/>
              </a:ext>
            </a:extLst>
          </p:cNvPr>
          <p:cNvSpPr txBox="1"/>
          <p:nvPr/>
        </p:nvSpPr>
        <p:spPr>
          <a:xfrm>
            <a:off x="0" y="94964"/>
            <a:ext cx="9906000" cy="47610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wrap="square" lIns="63294" tIns="31638" rIns="63294" bIns="31638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1800" b="1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</a:lstStyle>
          <a:p>
            <a:r>
              <a:rPr lang="en-US" sz="2400" dirty="0"/>
              <a:t>Plotting a Pie Chart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19E277-8FAA-8648-886E-5F0FFAD050D6}"/>
              </a:ext>
            </a:extLst>
          </p:cNvPr>
          <p:cNvSpPr txBox="1"/>
          <p:nvPr/>
        </p:nvSpPr>
        <p:spPr>
          <a:xfrm>
            <a:off x="318618" y="1439088"/>
            <a:ext cx="4455066" cy="4035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22" dirty="0"/>
              <a:t>The structure of the command line is: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8BF8F3A-21F8-C44E-B049-50A725A8931A}"/>
              </a:ext>
            </a:extLst>
          </p:cNvPr>
          <p:cNvSpPr/>
          <p:nvPr/>
        </p:nvSpPr>
        <p:spPr>
          <a:xfrm>
            <a:off x="155713" y="672816"/>
            <a:ext cx="975028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E" dirty="0"/>
              <a:t>A pie chart displays data as a percentage of the whole. Each pie section should have a label and percentage. </a:t>
            </a:r>
            <a:r>
              <a:rPr lang="en-AE" b="1" dirty="0"/>
              <a:t>A total data number should be included</a:t>
            </a:r>
            <a:r>
              <a:rPr lang="en-AE" dirty="0"/>
              <a:t>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797230-F74D-2047-8508-90247E8B8D56}"/>
              </a:ext>
            </a:extLst>
          </p:cNvPr>
          <p:cNvSpPr txBox="1"/>
          <p:nvPr/>
        </p:nvSpPr>
        <p:spPr>
          <a:xfrm>
            <a:off x="318618" y="1962537"/>
            <a:ext cx="1210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E" b="1" dirty="0">
                <a:solidFill>
                  <a:srgbClr val="00B050"/>
                </a:solidFill>
              </a:rPr>
              <a:t>Example: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5A783C-3164-0B41-8133-E26090B9B7A4}"/>
              </a:ext>
            </a:extLst>
          </p:cNvPr>
          <p:cNvSpPr/>
          <p:nvPr/>
        </p:nvSpPr>
        <p:spPr>
          <a:xfrm>
            <a:off x="923912" y="2505161"/>
            <a:ext cx="10344176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400" dirty="0"/>
              <a:t>df['Total Enrolled'].</a:t>
            </a:r>
            <a:r>
              <a:rPr lang="en-US" sz="2400" dirty="0" err="1"/>
              <a:t>plot.pie</a:t>
            </a:r>
            <a:r>
              <a:rPr lang="en-US" sz="2400" dirty="0"/>
              <a:t>()</a:t>
            </a:r>
            <a:endParaRPr lang="en-AE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9FC4D7-F4D4-2E43-847B-22AEE1A40ECF}"/>
              </a:ext>
            </a:extLst>
          </p:cNvPr>
          <p:cNvSpPr txBox="1"/>
          <p:nvPr/>
        </p:nvSpPr>
        <p:spPr>
          <a:xfrm>
            <a:off x="1529206" y="1965419"/>
            <a:ext cx="103441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E" sz="1600" dirty="0"/>
              <a:t>A pie chart to display total number of students enrolled in each specialisation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6A5570E-D6CB-FE4C-BB2A-1E424ECA1EEF}"/>
              </a:ext>
            </a:extLst>
          </p:cNvPr>
          <p:cNvSpPr txBox="1"/>
          <p:nvPr/>
        </p:nvSpPr>
        <p:spPr>
          <a:xfrm>
            <a:off x="4773684" y="1420097"/>
            <a:ext cx="3834704" cy="403508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2022" b="1" dirty="0" err="1"/>
              <a:t>DataFrame</a:t>
            </a:r>
            <a:r>
              <a:rPr lang="en-US" sz="2022" b="1" dirty="0"/>
              <a:t>[</a:t>
            </a:r>
            <a:r>
              <a:rPr lang="en-US" sz="2022" b="1" dirty="0">
                <a:solidFill>
                  <a:srgbClr val="FF0000"/>
                </a:solidFill>
              </a:rPr>
              <a:t>Column</a:t>
            </a:r>
            <a:r>
              <a:rPr lang="en-US" sz="2022" b="1" dirty="0"/>
              <a:t>].</a:t>
            </a:r>
            <a:r>
              <a:rPr lang="en-US" sz="2022" b="1" dirty="0" err="1">
                <a:solidFill>
                  <a:srgbClr val="00B0F0"/>
                </a:solidFill>
              </a:rPr>
              <a:t>plot.pie</a:t>
            </a:r>
            <a:r>
              <a:rPr lang="en-US" sz="2022" b="1" dirty="0">
                <a:solidFill>
                  <a:srgbClr val="00B0F0"/>
                </a:solidFill>
              </a:rPr>
              <a:t>()</a:t>
            </a:r>
          </a:p>
        </p:txBody>
      </p:sp>
      <p:pic>
        <p:nvPicPr>
          <p:cNvPr id="15" name="Picture 14" descr="A close up of a logo&#10;&#10;Description automatically generated">
            <a:extLst>
              <a:ext uri="{FF2B5EF4-FFF2-40B4-BE49-F238E27FC236}">
                <a16:creationId xmlns:a16="http://schemas.microsoft.com/office/drawing/2014/main" id="{FA3F9833-C674-444D-9669-5689475505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5490" y="3266766"/>
            <a:ext cx="5118100" cy="313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919087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115">
            <a:extLst>
              <a:ext uri="{FF2B5EF4-FFF2-40B4-BE49-F238E27FC236}">
                <a16:creationId xmlns:a16="http://schemas.microsoft.com/office/drawing/2014/main" id="{C42BD211-4F13-9747-92F5-9653072AB561}"/>
              </a:ext>
            </a:extLst>
          </p:cNvPr>
          <p:cNvSpPr txBox="1"/>
          <p:nvPr/>
        </p:nvSpPr>
        <p:spPr>
          <a:xfrm>
            <a:off x="0" y="94964"/>
            <a:ext cx="9906000" cy="47610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wrap="square" lIns="63294" tIns="31638" rIns="63294" bIns="31638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1800" b="1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</a:lstStyle>
          <a:p>
            <a:r>
              <a:rPr lang="en-US" sz="2400" dirty="0"/>
              <a:t>Enhancing the Chart - Example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F6D05A1-0743-1545-BDFE-C818D61699D0}"/>
              </a:ext>
            </a:extLst>
          </p:cNvPr>
          <p:cNvSpPr/>
          <p:nvPr/>
        </p:nvSpPr>
        <p:spPr>
          <a:xfrm>
            <a:off x="923912" y="1369218"/>
            <a:ext cx="10344175" cy="83099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c</a:t>
            </a:r>
            <a:r>
              <a:rPr lang="en-AE" sz="2400" dirty="0">
                <a:solidFill>
                  <a:srgbClr val="0070C0"/>
                </a:solidFill>
              </a:rPr>
              <a:t>hart </a:t>
            </a:r>
            <a:r>
              <a:rPr lang="en-AE" sz="2400" dirty="0"/>
              <a:t>= df[['Graduate _ UnderGraduate','Graduated_Post Graduate']].plot.bar(</a:t>
            </a:r>
            <a:r>
              <a:rPr lang="en-US" sz="2400" dirty="0">
                <a:solidFill>
                  <a:srgbClr val="0070C0"/>
                </a:solidFill>
              </a:rPr>
              <a:t>title=</a:t>
            </a:r>
            <a:r>
              <a:rPr lang="en-US" sz="2400" dirty="0">
                <a:solidFill>
                  <a:srgbClr val="FF0000"/>
                </a:solidFill>
              </a:rPr>
              <a:t>'Enrolled </a:t>
            </a:r>
            <a:r>
              <a:rPr lang="en-US" sz="2400" dirty="0" err="1">
                <a:solidFill>
                  <a:srgbClr val="FF0000"/>
                </a:solidFill>
              </a:rPr>
              <a:t>Students'</a:t>
            </a:r>
            <a:r>
              <a:rPr lang="en-US" sz="2400" dirty="0" err="1">
                <a:solidFill>
                  <a:srgbClr val="0070C0"/>
                </a:solidFill>
              </a:rPr>
              <a:t>,color</a:t>
            </a:r>
            <a:r>
              <a:rPr lang="en-US" sz="2400" dirty="0">
                <a:solidFill>
                  <a:srgbClr val="0070C0"/>
                </a:solidFill>
              </a:rPr>
              <a:t>=[</a:t>
            </a:r>
            <a:r>
              <a:rPr lang="en-US" sz="2400" dirty="0">
                <a:solidFill>
                  <a:srgbClr val="FF0000"/>
                </a:solidFill>
              </a:rPr>
              <a:t>"</a:t>
            </a:r>
            <a:r>
              <a:rPr lang="en-US" sz="2400" dirty="0" err="1">
                <a:solidFill>
                  <a:srgbClr val="FF0000"/>
                </a:solidFill>
              </a:rPr>
              <a:t>Blue","Green</a:t>
            </a:r>
            <a:r>
              <a:rPr lang="en-US" sz="2400" dirty="0">
                <a:solidFill>
                  <a:srgbClr val="FF0000"/>
                </a:solidFill>
              </a:rPr>
              <a:t>"</a:t>
            </a:r>
            <a:r>
              <a:rPr lang="en-US" sz="2400" dirty="0">
                <a:solidFill>
                  <a:srgbClr val="0070C0"/>
                </a:solidFill>
              </a:rPr>
              <a:t>]</a:t>
            </a:r>
            <a:r>
              <a:rPr lang="en-US" sz="2400" dirty="0"/>
              <a:t>)</a:t>
            </a:r>
            <a:endParaRPr lang="en-AE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BEE118-94FB-C047-B9EF-60B1854CE5AB}"/>
              </a:ext>
            </a:extLst>
          </p:cNvPr>
          <p:cNvSpPr txBox="1"/>
          <p:nvPr/>
        </p:nvSpPr>
        <p:spPr>
          <a:xfrm>
            <a:off x="188843" y="720871"/>
            <a:ext cx="62472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E" sz="2000" b="1" dirty="0"/>
              <a:t>1. Create a bar chart with title and change colours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3C239D2-82D2-2A43-A1E0-967C03A60E99}"/>
              </a:ext>
            </a:extLst>
          </p:cNvPr>
          <p:cNvSpPr/>
          <p:nvPr/>
        </p:nvSpPr>
        <p:spPr>
          <a:xfrm>
            <a:off x="923912" y="2782669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E" dirty="0"/>
              <a:t>chart.</a:t>
            </a:r>
            <a:r>
              <a:rPr lang="en-AE" dirty="0">
                <a:solidFill>
                  <a:srgbClr val="0070C0"/>
                </a:solidFill>
              </a:rPr>
              <a:t>set_xlabel</a:t>
            </a:r>
            <a:r>
              <a:rPr lang="en-AE" dirty="0"/>
              <a:t>('Specialisation’)</a:t>
            </a:r>
          </a:p>
          <a:p>
            <a:r>
              <a:rPr lang="en-AE" dirty="0"/>
              <a:t>chart.</a:t>
            </a:r>
            <a:r>
              <a:rPr lang="en-AE" dirty="0">
                <a:solidFill>
                  <a:srgbClr val="0070C0"/>
                </a:solidFill>
              </a:rPr>
              <a:t>set_ylabel</a:t>
            </a:r>
            <a:r>
              <a:rPr lang="en-AE" dirty="0"/>
              <a:t>('Enrolled')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76D76D5-C962-034D-BE55-3699B89261C6}"/>
              </a:ext>
            </a:extLst>
          </p:cNvPr>
          <p:cNvSpPr txBox="1"/>
          <p:nvPr/>
        </p:nvSpPr>
        <p:spPr>
          <a:xfrm>
            <a:off x="188843" y="2382559"/>
            <a:ext cx="34740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E" sz="2000" b="1" dirty="0"/>
              <a:t>2. Change the x and y label</a:t>
            </a:r>
          </a:p>
        </p:txBody>
      </p:sp>
      <p:pic>
        <p:nvPicPr>
          <p:cNvPr id="25" name="Picture 24" descr="A screenshot of a cell phone&#10;&#10;Description automatically generated">
            <a:extLst>
              <a:ext uri="{FF2B5EF4-FFF2-40B4-BE49-F238E27FC236}">
                <a16:creationId xmlns:a16="http://schemas.microsoft.com/office/drawing/2014/main" id="{8150457E-1D50-2342-86D9-88A64DCC36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9541" y="2285998"/>
            <a:ext cx="4650685" cy="4054415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2449E8E4-7A84-F445-AC69-E61AE9B8C353}"/>
              </a:ext>
            </a:extLst>
          </p:cNvPr>
          <p:cNvSpPr txBox="1"/>
          <p:nvPr/>
        </p:nvSpPr>
        <p:spPr>
          <a:xfrm>
            <a:off x="9906000" y="2197893"/>
            <a:ext cx="612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E" dirty="0"/>
              <a:t>Title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0B585B5-C54B-0D41-A536-B63471C5D6BC}"/>
              </a:ext>
            </a:extLst>
          </p:cNvPr>
          <p:cNvSpPr txBox="1"/>
          <p:nvPr/>
        </p:nvSpPr>
        <p:spPr>
          <a:xfrm>
            <a:off x="9906000" y="5971081"/>
            <a:ext cx="9028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r>
              <a:rPr lang="en-AE" dirty="0"/>
              <a:t>-label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9824785-4181-4547-84E0-7A14274B9582}"/>
              </a:ext>
            </a:extLst>
          </p:cNvPr>
          <p:cNvSpPr txBox="1"/>
          <p:nvPr/>
        </p:nvSpPr>
        <p:spPr>
          <a:xfrm>
            <a:off x="3971912" y="4187383"/>
            <a:ext cx="8816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E" dirty="0"/>
              <a:t>Y-label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4BE83AE-735E-9541-9A80-CE18D71F2B71}"/>
              </a:ext>
            </a:extLst>
          </p:cNvPr>
          <p:cNvSpPr txBox="1"/>
          <p:nvPr/>
        </p:nvSpPr>
        <p:spPr>
          <a:xfrm>
            <a:off x="10219351" y="3345309"/>
            <a:ext cx="9797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E" dirty="0"/>
              <a:t>Colours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21671B1E-02C9-F640-A6EB-6402EA32948B}"/>
              </a:ext>
            </a:extLst>
          </p:cNvPr>
          <p:cNvCxnSpPr/>
          <p:nvPr/>
        </p:nvCxnSpPr>
        <p:spPr>
          <a:xfrm flipH="1">
            <a:off x="8478078" y="2382559"/>
            <a:ext cx="142792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D9F50A3D-316B-784A-85CA-70F3C0D1A45A}"/>
              </a:ext>
            </a:extLst>
          </p:cNvPr>
          <p:cNvCxnSpPr>
            <a:cxnSpLocks/>
          </p:cNvCxnSpPr>
          <p:nvPr/>
        </p:nvCxnSpPr>
        <p:spPr>
          <a:xfrm flipH="1">
            <a:off x="6436066" y="3529975"/>
            <a:ext cx="3775979" cy="1846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92D67633-4A3D-024E-A0D9-A648BE92842B}"/>
              </a:ext>
            </a:extLst>
          </p:cNvPr>
          <p:cNvCxnSpPr/>
          <p:nvPr/>
        </p:nvCxnSpPr>
        <p:spPr>
          <a:xfrm flipH="1">
            <a:off x="8324055" y="6212437"/>
            <a:ext cx="142792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739840EE-42F6-3A45-9902-D8F2DA0D3806}"/>
              </a:ext>
            </a:extLst>
          </p:cNvPr>
          <p:cNvCxnSpPr>
            <a:cxnSpLocks/>
          </p:cNvCxnSpPr>
          <p:nvPr/>
        </p:nvCxnSpPr>
        <p:spPr>
          <a:xfrm flipV="1">
            <a:off x="4650416" y="3796748"/>
            <a:ext cx="607384" cy="2882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118778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>
            <a:extLst>
              <a:ext uri="{FF2B5EF4-FFF2-40B4-BE49-F238E27FC236}">
                <a16:creationId xmlns:a16="http://schemas.microsoft.com/office/drawing/2014/main" id="{2E7056CC-CDC9-D747-B594-00D3674EE684}"/>
              </a:ext>
            </a:extLst>
          </p:cNvPr>
          <p:cNvSpPr txBox="1"/>
          <p:nvPr/>
        </p:nvSpPr>
        <p:spPr>
          <a:xfrm>
            <a:off x="218459" y="826900"/>
            <a:ext cx="4005671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Display chart</a:t>
            </a:r>
          </a:p>
        </p:txBody>
      </p:sp>
      <p:sp>
        <p:nvSpPr>
          <p:cNvPr id="21" name="Shape 115">
            <a:extLst>
              <a:ext uri="{FF2B5EF4-FFF2-40B4-BE49-F238E27FC236}">
                <a16:creationId xmlns:a16="http://schemas.microsoft.com/office/drawing/2014/main" id="{C42BD211-4F13-9747-92F5-9653072AB561}"/>
              </a:ext>
            </a:extLst>
          </p:cNvPr>
          <p:cNvSpPr txBox="1"/>
          <p:nvPr/>
        </p:nvSpPr>
        <p:spPr>
          <a:xfrm>
            <a:off x="0" y="94964"/>
            <a:ext cx="9906000" cy="47610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wrap="square" lIns="63294" tIns="31638" rIns="63294" bIns="31638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1800" b="1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</a:lstStyle>
          <a:p>
            <a:r>
              <a:rPr lang="en-US" sz="2400" dirty="0"/>
              <a:t>Summary of Pandas Commands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19C065F-15D1-5443-BF64-98B0C86708ED}"/>
              </a:ext>
            </a:extLst>
          </p:cNvPr>
          <p:cNvSpPr txBox="1"/>
          <p:nvPr/>
        </p:nvSpPr>
        <p:spPr>
          <a:xfrm>
            <a:off x="349159" y="1276045"/>
            <a:ext cx="3978974" cy="10258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22" dirty="0" err="1"/>
              <a:t>DataFrame</a:t>
            </a:r>
            <a:r>
              <a:rPr lang="en-US" sz="2022" dirty="0"/>
              <a:t>[</a:t>
            </a:r>
            <a:r>
              <a:rPr lang="en-US" sz="2022" dirty="0">
                <a:solidFill>
                  <a:srgbClr val="FF0000"/>
                </a:solidFill>
              </a:rPr>
              <a:t>Column</a:t>
            </a:r>
            <a:r>
              <a:rPr lang="en-US" sz="2022" dirty="0"/>
              <a:t>].</a:t>
            </a:r>
            <a:r>
              <a:rPr lang="en-US" sz="2022" dirty="0" err="1"/>
              <a:t>plot.line</a:t>
            </a:r>
            <a:r>
              <a:rPr lang="en-US" sz="2022" dirty="0"/>
              <a:t>()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22" dirty="0" err="1"/>
              <a:t>DataFrame</a:t>
            </a:r>
            <a:r>
              <a:rPr lang="en-US" sz="2022" dirty="0"/>
              <a:t>[</a:t>
            </a:r>
            <a:r>
              <a:rPr lang="en-US" sz="2022" dirty="0">
                <a:solidFill>
                  <a:srgbClr val="FF0000"/>
                </a:solidFill>
              </a:rPr>
              <a:t>Column</a:t>
            </a:r>
            <a:r>
              <a:rPr lang="en-US" sz="2022" dirty="0"/>
              <a:t>].</a:t>
            </a:r>
            <a:r>
              <a:rPr lang="en-US" sz="2022" dirty="0" err="1"/>
              <a:t>plot.bar</a:t>
            </a:r>
            <a:r>
              <a:rPr lang="en-US" sz="2022" dirty="0"/>
              <a:t>()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22" dirty="0" err="1"/>
              <a:t>DataFrame</a:t>
            </a:r>
            <a:r>
              <a:rPr lang="en-US" sz="2022" dirty="0"/>
              <a:t>[</a:t>
            </a:r>
            <a:r>
              <a:rPr lang="en-US" sz="2022" dirty="0">
                <a:solidFill>
                  <a:srgbClr val="FF0000"/>
                </a:solidFill>
              </a:rPr>
              <a:t>Column</a:t>
            </a:r>
            <a:r>
              <a:rPr lang="en-US" sz="2022" dirty="0"/>
              <a:t>].</a:t>
            </a:r>
            <a:r>
              <a:rPr lang="en-US" sz="2022" dirty="0" err="1"/>
              <a:t>plot.pie</a:t>
            </a:r>
            <a:r>
              <a:rPr lang="en-US" sz="2022" dirty="0"/>
              <a:t>()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91BCEB1-A359-AE49-9944-A4BC7A3D72A4}"/>
              </a:ext>
            </a:extLst>
          </p:cNvPr>
          <p:cNvSpPr txBox="1"/>
          <p:nvPr/>
        </p:nvSpPr>
        <p:spPr>
          <a:xfrm>
            <a:off x="218459" y="2546739"/>
            <a:ext cx="4005671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Enhance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7153835-02ED-7F40-A573-D087A9520E7E}"/>
              </a:ext>
            </a:extLst>
          </p:cNvPr>
          <p:cNvSpPr txBox="1"/>
          <p:nvPr/>
        </p:nvSpPr>
        <p:spPr>
          <a:xfrm>
            <a:off x="349159" y="3006882"/>
            <a:ext cx="3538148" cy="13370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22" dirty="0"/>
              <a:t>title = “your title”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22" dirty="0"/>
              <a:t>color = [‘colour1’,’colour2’]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22" dirty="0" err="1"/>
              <a:t>set_xlabel</a:t>
            </a:r>
            <a:r>
              <a:rPr lang="en-US" sz="2022" dirty="0"/>
              <a:t>(‘</a:t>
            </a:r>
            <a:r>
              <a:rPr lang="en-US" sz="2022" dirty="0" err="1"/>
              <a:t>x_label</a:t>
            </a:r>
            <a:r>
              <a:rPr lang="en-US" sz="2022" dirty="0"/>
              <a:t>’)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22" dirty="0" err="1"/>
              <a:t>set_ylabel</a:t>
            </a:r>
            <a:r>
              <a:rPr lang="en-US" sz="2022" dirty="0"/>
              <a:t>(‘</a:t>
            </a:r>
            <a:r>
              <a:rPr lang="en-US" sz="2022" dirty="0" err="1"/>
              <a:t>y_label</a:t>
            </a:r>
            <a:r>
              <a:rPr lang="en-US" sz="2022" dirty="0"/>
              <a:t>’)</a:t>
            </a:r>
          </a:p>
        </p:txBody>
      </p:sp>
    </p:spTree>
    <p:extLst>
      <p:ext uri="{BB962C8B-B14F-4D97-AF65-F5344CB8AC3E}">
        <p14:creationId xmlns:p14="http://schemas.microsoft.com/office/powerpoint/2010/main" val="179859957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HCT SPRING FORUM 2019">
      <a:dk1>
        <a:sysClr val="windowText" lastClr="000000"/>
      </a:dk1>
      <a:lt1>
        <a:sysClr val="window" lastClr="FFFFFF"/>
      </a:lt1>
      <a:dk2>
        <a:srgbClr val="565655"/>
      </a:dk2>
      <a:lt2>
        <a:srgbClr val="E7E6E6"/>
      </a:lt2>
      <a:accent1>
        <a:srgbClr val="138EB2"/>
      </a:accent1>
      <a:accent2>
        <a:srgbClr val="FCC506"/>
      </a:accent2>
      <a:accent3>
        <a:srgbClr val="0DB0AD"/>
      </a:accent3>
      <a:accent4>
        <a:srgbClr val="565655"/>
      </a:accent4>
      <a:accent5>
        <a:srgbClr val="FFFFFF"/>
      </a:accent5>
      <a:accent6>
        <a:srgbClr val="70AD47"/>
      </a:accent6>
      <a:hlink>
        <a:srgbClr val="0563C1"/>
      </a:hlink>
      <a:folHlink>
        <a:srgbClr val="954F72"/>
      </a:folHlink>
    </a:clrScheme>
    <a:fontScheme name="HCT SPRING FORUM 2019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2F7824A5-3B7F-C242-A602-EEC0186A8041}" vid="{14EAAA3B-60F8-EA45-B55F-4EC26769AB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79BB0B1D91B6B47AE8C97016D2248BB" ma:contentTypeVersion="0" ma:contentTypeDescription="Create a new document." ma:contentTypeScope="" ma:versionID="74f1bb98f46dc566b5346b67354718cc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1b05d82d297216baf5b26c55225140df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0F197CE-D425-4F0A-865A-142473F444D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3706CC3A-762A-4454-9ABC-F06E2EC2A29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6BEAEC8-EB21-46B1-9E3B-D90135AD8DF0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1334</TotalTime>
  <Words>959</Words>
  <Application>Microsoft Macintosh PowerPoint</Application>
  <PresentationFormat>Widescreen</PresentationFormat>
  <Paragraphs>120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Helvetica</vt:lpstr>
      <vt:lpstr>Symbol</vt:lpstr>
      <vt:lpstr>Times New Roman</vt:lpstr>
      <vt:lpstr>Office Theme</vt:lpstr>
      <vt:lpstr>Week 13 – Introduction to Data Analytics in Python</vt:lpstr>
      <vt:lpstr>Learning Outcomes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Firose Ullattil</dc:creator>
  <cp:lastModifiedBy>Anand Pandiyan</cp:lastModifiedBy>
  <cp:revision>415</cp:revision>
  <dcterms:created xsi:type="dcterms:W3CDTF">2019-11-05T11:51:43Z</dcterms:created>
  <dcterms:modified xsi:type="dcterms:W3CDTF">2021-11-09T03:59:49Z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0x010100A79BB0B1D91B6B47AE8C97016D2248BB</vt:lpwstr>
  </property>
</Properties>
</file>